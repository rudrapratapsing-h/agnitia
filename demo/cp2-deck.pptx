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38BDF8"/>
                </a:solidFill>
              </a:defRPr>
            </a:pPr>
            <a:r>
              <a:t>AGNITIA • CHECKPOINT 1 • 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72865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F8FAFC"/>
                </a:solidFill>
              </a:defRPr>
            </a:pPr>
            <a:r>
              <a:t>The 3 AM problem: when one service fails, engineers get 56 alerts, not one.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72865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>
                <a:solidFill>
                  <a:srgbClr val="FBBF24"/>
                </a:solidFill>
              </a:defRPr>
            </a:pPr>
            <a:r>
              <a:t>*Jargon: 56 alerts = cascade of error messages sent to phones when downstream systems fail.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5120640" cy="4114800"/>
          </a:xfrm>
          <a:prstGeom prst="roundRect">
            <a:avLst/>
          </a:prstGeom>
          <a:solidFill>
            <a:srgbClr val="161E2E"/>
          </a:solidFill>
          <a:ln w="2540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377440"/>
            <a:ext cx="45720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7171"/>
                </a:solidFill>
              </a:defRPr>
            </a:pPr>
            <a:r>
              <a:t>Phone Alert Storm (56 Messages)</a:t>
            </a:r>
          </a:p>
          <a:p>
            <a:pPr>
              <a:defRPr sz="2400">
                <a:solidFill>
                  <a:srgbClr val="F8FAFC"/>
                </a:solidFill>
              </a:defRPr>
            </a:pPr>
            <a:r>
              <a:t>• 03:14:10 [CRITICAL] Database OOM Killed (code 137)</a:t>
            </a:r>
          </a:p>
          <a:p>
            <a:pPr>
              <a:defRPr sz="2400">
                <a:solidFill>
                  <a:srgbClr val="F8FAFC"/>
                </a:solidFill>
              </a:defRPr>
            </a:pPr>
            <a:r>
              <a:t>• 03:14:11 [ERROR] Auth: DB query connection timeout</a:t>
            </a:r>
          </a:p>
          <a:p>
            <a:pPr>
              <a:defRPr sz="2400">
                <a:solidFill>
                  <a:srgbClr val="F8FAFC"/>
                </a:solidFill>
              </a:defRPr>
            </a:pPr>
            <a:r>
              <a:t>• 03:14:11 [ERROR] Payments: DB connection refused</a:t>
            </a:r>
          </a:p>
          <a:p>
            <a:pPr>
              <a:defRPr sz="2400">
                <a:solidFill>
                  <a:srgbClr val="F8FAFC"/>
                </a:solidFill>
              </a:defRPr>
            </a:pPr>
            <a:r>
              <a:t>• 03:14:12 [CRITICAL] API Gateway: 502/503 spike (18x)</a:t>
            </a:r>
          </a:p>
          <a:p>
            <a:pPr>
              <a:defRPr sz="2400">
                <a:solidFill>
                  <a:srgbClr val="F8FAFC"/>
                </a:solidFill>
              </a:defRPr>
            </a:pPr>
            <a:r>
              <a:t>• 03:14:14 [CRITICAL] Web UI: Checkout checkout failed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194560"/>
            <a:ext cx="5212080" cy="4114800"/>
          </a:xfrm>
          <a:prstGeom prst="roundRect">
            <a:avLst/>
          </a:prstGeom>
          <a:solidFill>
            <a:srgbClr val="161E2E"/>
          </a:solidFill>
          <a:ln w="254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2377440"/>
            <a:ext cx="46634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BBF24"/>
                </a:solidFill>
              </a:defRPr>
            </a:pPr>
            <a:r>
              <a:t>Cascading Failure Chain</a:t>
            </a:r>
          </a:p>
          <a:p>
            <a:pPr>
              <a:defRPr sz="2400">
                <a:solidFill>
                  <a:srgbClr val="F8FAFC"/>
                </a:solidFill>
              </a:defRPr>
            </a:pPr>
            <a:r>
              <a:t>1. Database (postgres) [ROOT CAUSE: OOM]</a:t>
            </a:r>
          </a:p>
          <a:p>
            <a:pPr>
              <a:defRPr sz="2400">
                <a:solidFill>
                  <a:srgbClr val="94A3B8"/>
                </a:solidFill>
              </a:defRPr>
            </a:pPr>
            <a:r>
              <a:t>   ↓ failure propagates to dependencies</a:t>
            </a:r>
          </a:p>
          <a:p>
            <a:pPr>
              <a:defRPr sz="2400">
                <a:solidFill>
                  <a:srgbClr val="F8FAFC"/>
                </a:solidFill>
              </a:defRPr>
            </a:pPr>
            <a:r>
              <a:t>2. Auth &amp; Payments [IMPACTED: 503 Errors]</a:t>
            </a:r>
          </a:p>
          <a:p>
            <a:pPr>
              <a:defRPr sz="2400">
                <a:solidFill>
                  <a:srgbClr val="94A3B8"/>
                </a:solidFill>
              </a:defRPr>
            </a:pPr>
            <a:r>
              <a:t>   ↓ gateway upstream connections fail</a:t>
            </a:r>
          </a:p>
          <a:p>
            <a:pPr>
              <a:defRPr sz="2400">
                <a:solidFill>
                  <a:srgbClr val="F8FAFC"/>
                </a:solidFill>
              </a:defRPr>
            </a:pPr>
            <a:r>
              <a:t>3. Gateway &amp; Website [FULL SYSTEM OUTAGE]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38BDF8"/>
                </a:solidFill>
              </a:defRPr>
            </a:pPr>
            <a:r>
              <a:t>AGNITIA • THE SOLUTION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72865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F8FAFC"/>
                </a:solidFill>
              </a:defRPr>
            </a:pPr>
            <a:r>
              <a:t>Agnitia closes the loop in five steps.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72865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>
                <a:solidFill>
                  <a:srgbClr val="FBBF24"/>
                </a:solidFill>
              </a:defRPr>
            </a:pPr>
            <a:r>
              <a:t>*Jargon: Closed loop = automated workflow from incident detection to verified resolution.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286000"/>
            <a:ext cx="2011680" cy="4023360"/>
          </a:xfrm>
          <a:prstGeom prst="roundRect">
            <a:avLst/>
          </a:prstGeom>
          <a:solidFill>
            <a:srgbClr val="161E2E"/>
          </a:solidFill>
          <a:ln w="254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468880"/>
            <a:ext cx="1737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38BDF8"/>
                </a:solidFill>
              </a:defRPr>
            </a:pPr>
            <a:r>
              <a:t>1. DETECT</a:t>
            </a:r>
          </a:p>
          <a:p>
            <a:pPr>
              <a:defRPr sz="2400">
                <a:solidFill>
                  <a:srgbClr val="F8FAFC"/>
                </a:solidFill>
              </a:defRPr>
            </a:pPr>
            <a:r>
              <a:t>Streams cluster metrics and container logs in real time.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07792" y="2286000"/>
            <a:ext cx="2011680" cy="4023360"/>
          </a:xfrm>
          <a:prstGeom prst="roundRect">
            <a:avLst/>
          </a:prstGeom>
          <a:solidFill>
            <a:srgbClr val="161E2E"/>
          </a:solidFill>
          <a:ln w="254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44952" y="2468880"/>
            <a:ext cx="1737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A78BFA"/>
                </a:solidFill>
              </a:defRPr>
            </a:pPr>
            <a:r>
              <a:t>2. CORRELATE</a:t>
            </a:r>
          </a:p>
          <a:p>
            <a:pPr>
              <a:defRPr sz="2400">
                <a:solidFill>
                  <a:srgbClr val="F8FAFC"/>
                </a:solidFill>
              </a:defRPr>
            </a:pPr>
            <a:r>
              <a:t>Collapses 56 alerts into 1 incident using topology graph.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84064" y="2286000"/>
            <a:ext cx="2011680" cy="4023360"/>
          </a:xfrm>
          <a:prstGeom prst="roundRect">
            <a:avLst/>
          </a:prstGeom>
          <a:solidFill>
            <a:srgbClr val="161E2E"/>
          </a:solidFill>
          <a:ln w="2540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21224" y="2468880"/>
            <a:ext cx="1737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7171"/>
                </a:solidFill>
              </a:defRPr>
            </a:pPr>
            <a:r>
              <a:t>3. DIAGNOSE</a:t>
            </a:r>
          </a:p>
          <a:p>
            <a:pPr>
              <a:defRPr sz="2400">
                <a:solidFill>
                  <a:srgbClr val="F8FAFC"/>
                </a:solidFill>
              </a:defRPr>
            </a:pPr>
            <a:r>
              <a:t>Pinpoints root cause with verifiable log citations.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60336" y="2286000"/>
            <a:ext cx="2011680" cy="4023360"/>
          </a:xfrm>
          <a:prstGeom prst="roundRect">
            <a:avLst/>
          </a:prstGeom>
          <a:solidFill>
            <a:srgbClr val="161E2E"/>
          </a:solidFill>
          <a:ln w="254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97496" y="2468880"/>
            <a:ext cx="1737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BBF24"/>
                </a:solidFill>
              </a:defRPr>
            </a:pPr>
            <a:r>
              <a:t>4. PLAN</a:t>
            </a:r>
          </a:p>
          <a:p>
            <a:pPr>
              <a:defRPr sz="2400">
                <a:solidFill>
                  <a:srgbClr val="F8FAFC"/>
                </a:solidFill>
              </a:defRPr>
            </a:pPr>
            <a:r>
              <a:t>Generates safe, dependency-ordered recovery actions.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436608" y="2286000"/>
            <a:ext cx="2011680" cy="4023360"/>
          </a:xfrm>
          <a:prstGeom prst="roundRect">
            <a:avLst/>
          </a:prstGeom>
          <a:solidFill>
            <a:srgbClr val="161E2E"/>
          </a:solidFill>
          <a:ln w="254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73768" y="2468880"/>
            <a:ext cx="1737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34D399"/>
                </a:solidFill>
              </a:defRPr>
            </a:pPr>
            <a:r>
              <a:t>5. APPROVE &amp; HEAL</a:t>
            </a:r>
          </a:p>
          <a:p>
            <a:pPr>
              <a:defRPr sz="2400">
                <a:solidFill>
                  <a:srgbClr val="F8FAFC"/>
                </a:solidFill>
              </a:defRPr>
            </a:pPr>
            <a:r>
              <a:t>Waits for human authorization, then verifies recovery.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38BDF8"/>
                </a:solidFill>
              </a:defRPr>
            </a:pPr>
            <a:r>
              <a:t>AGNITIA • 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72865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F8FAFC"/>
                </a:solidFill>
              </a:defRPr>
            </a:pPr>
            <a:r>
              <a:t>One backend, a live dependency map and a swappable cluster.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72865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>
                <a:solidFill>
                  <a:srgbClr val="FBBF24"/>
                </a:solidFill>
              </a:defRPr>
            </a:pPr>
            <a:r>
              <a:t>*Jargon: Cluster adapter = interface switching between test simulator and real Kubernetes.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286000"/>
            <a:ext cx="10728655" cy="1188720"/>
          </a:xfrm>
          <a:prstGeom prst="roundRect">
            <a:avLst/>
          </a:prstGeom>
          <a:solidFill>
            <a:srgbClr val="161E2E"/>
          </a:solidFill>
          <a:ln w="254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42316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38BDF8"/>
                </a:solidFill>
              </a:defRPr>
            </a:pPr>
            <a:r>
              <a:t>TIER 1 • REACT OPERATOR UI</a:t>
            </a:r>
          </a:p>
          <a:p>
            <a:pPr>
              <a:defRPr sz="2400">
                <a:solidFill>
                  <a:srgbClr val="F8FAFC"/>
                </a:solidFill>
              </a:defRPr>
            </a:pPr>
            <a:r>
              <a:t>Live React Flow dependency map • Terminal AI reasoning panel • Incident approval card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703320"/>
            <a:ext cx="10728655" cy="1188720"/>
          </a:xfrm>
          <a:prstGeom prst="roundRect">
            <a:avLst/>
          </a:prstGeom>
          <a:solidFill>
            <a:srgbClr val="161E2E"/>
          </a:solidFill>
          <a:ln w="254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384048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A78BFA"/>
                </a:solidFill>
              </a:defRPr>
            </a:pPr>
            <a:r>
              <a:t>TIER 2 • FASTAPI &amp; EVENT BUS</a:t>
            </a:r>
          </a:p>
          <a:p>
            <a:pPr>
              <a:defRPr sz="2400">
                <a:solidFill>
                  <a:srgbClr val="F8FAFC"/>
                </a:solidFill>
              </a:defRPr>
            </a:pPr>
            <a:r>
              <a:t>Topology graph correlation • Real-time WebSocket bus • Pydantic contract validation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120640"/>
            <a:ext cx="10728655" cy="1188720"/>
          </a:xfrm>
          <a:prstGeom prst="roundRect">
            <a:avLst/>
          </a:prstGeom>
          <a:solidFill>
            <a:srgbClr val="161E2E"/>
          </a:solidFill>
          <a:ln w="254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525780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34D399"/>
                </a:solidFill>
              </a:defRPr>
            </a:pPr>
            <a:r>
              <a:t>TIER 3 • CLUSTER ADAPTERS</a:t>
            </a:r>
          </a:p>
          <a:p>
            <a:pPr>
              <a:defRPr sz="2400">
                <a:solidFill>
                  <a:srgbClr val="F8FAFC"/>
                </a:solidFill>
              </a:defRPr>
            </a:pPr>
            <a:r>
              <a:t>Deterministic simulator (demo mode) OR Real Kubernetes cluster (Kind)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38BDF8"/>
                </a:solidFill>
              </a:defRPr>
            </a:pPr>
            <a:r>
              <a:t>AGNITIA • EXECUTION VELOCITY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72865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F8FAFC"/>
                </a:solidFill>
              </a:defRPr>
            </a:pPr>
            <a:r>
              <a:t>Where we are: progress board.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72865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>
                <a:solidFill>
                  <a:srgbClr val="FBBF24"/>
                </a:solidFill>
              </a:defRPr>
            </a:pPr>
            <a:r>
              <a:t>*Jargon: Chaos panel = one-click fault injection tool to verify resilience under fire.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286000"/>
            <a:ext cx="3429000" cy="4114800"/>
          </a:xfrm>
          <a:prstGeom prst="roundRect">
            <a:avLst/>
          </a:prstGeom>
          <a:solidFill>
            <a:srgbClr val="161E2E"/>
          </a:solidFill>
          <a:ln w="254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468880"/>
            <a:ext cx="30632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34D399"/>
                </a:solidFill>
              </a:defRPr>
            </a:pPr>
            <a:r>
              <a:t>DONE (HOUR 5)</a:t>
            </a:r>
          </a:p>
          <a:p>
            <a:pPr>
              <a:defRPr sz="2400">
                <a:solidFill>
                  <a:srgbClr val="F8FAFC"/>
                </a:solidFill>
              </a:defRPr>
            </a:pPr>
            <a:r>
              <a:t>• Live Dependency Map</a:t>
            </a:r>
          </a:p>
          <a:p>
            <a:pPr>
              <a:defRPr sz="2400">
                <a:solidFill>
                  <a:srgbClr val="F8FAFC"/>
                </a:solidFill>
              </a:defRPr>
            </a:pPr>
            <a:r>
              <a:t>• Chaos Injection Panel</a:t>
            </a:r>
          </a:p>
          <a:p>
            <a:pPr>
              <a:defRPr sz="2400">
                <a:solidFill>
                  <a:srgbClr val="F8FAFC"/>
                </a:solidFill>
              </a:defRPr>
            </a:pPr>
            <a:r>
              <a:t>• Alert Storm Funnel</a:t>
            </a:r>
          </a:p>
          <a:p>
            <a:pPr>
              <a:defRPr sz="2400">
                <a:solidFill>
                  <a:srgbClr val="F8FAFC"/>
                </a:solidFill>
              </a:defRPr>
            </a:pPr>
            <a:r>
              <a:t>• Live AI Reasoning Panel</a:t>
            </a:r>
          </a:p>
          <a:p>
            <a:pPr>
              <a:defRPr sz="2400">
                <a:solidFill>
                  <a:srgbClr val="F8FAFC"/>
                </a:solidFill>
              </a:defRPr>
            </a:pPr>
            <a:r>
              <a:t>• Telegram Bot Ping/Pong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79976" y="2286000"/>
            <a:ext cx="3429000" cy="4114800"/>
          </a:xfrm>
          <a:prstGeom prst="roundRect">
            <a:avLst/>
          </a:prstGeom>
          <a:solidFill>
            <a:srgbClr val="161E2E"/>
          </a:solidFill>
          <a:ln w="254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62856" y="2468880"/>
            <a:ext cx="30632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BBF24"/>
                </a:solidFill>
              </a:defRPr>
            </a:pPr>
            <a:r>
              <a:t>BUILDING NOW</a:t>
            </a:r>
          </a:p>
          <a:p>
            <a:pPr>
              <a:defRPr sz="2400">
                <a:solidFill>
                  <a:srgbClr val="F8FAFC"/>
                </a:solidFill>
              </a:defRPr>
            </a:pPr>
            <a:r>
              <a:t>• Evidence Drawer with Proof</a:t>
            </a:r>
          </a:p>
          <a:p>
            <a:pPr>
              <a:defRPr sz="2400">
                <a:solidFill>
                  <a:srgbClr val="F8FAFC"/>
                </a:solidFill>
              </a:defRPr>
            </a:pPr>
            <a:r>
              <a:t>• Ordered Playbook Engine</a:t>
            </a:r>
          </a:p>
          <a:p>
            <a:pPr>
              <a:defRPr sz="2400">
                <a:solidFill>
                  <a:srgbClr val="F8FAFC"/>
                </a:solidFill>
              </a:defRPr>
            </a:pPr>
            <a:r>
              <a:t>• Live 5-Agent Pipeline</a:t>
            </a:r>
          </a:p>
          <a:p>
            <a:pPr>
              <a:defRPr sz="2400">
                <a:solidFill>
                  <a:srgbClr val="F8FAFC"/>
                </a:solidFill>
              </a:defRPr>
            </a:pPr>
            <a:r>
              <a:t>• Citation Verifier Guard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28432" y="2286000"/>
            <a:ext cx="3429000" cy="4114800"/>
          </a:xfrm>
          <a:prstGeom prst="roundRect">
            <a:avLst/>
          </a:prstGeom>
          <a:solidFill>
            <a:srgbClr val="161E2E"/>
          </a:solidFill>
          <a:ln w="254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11312" y="2468880"/>
            <a:ext cx="30632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38BDF8"/>
                </a:solidFill>
              </a:defRPr>
            </a:pPr>
            <a:r>
              <a:t>NEXT (CHECKPOINT 2)</a:t>
            </a:r>
          </a:p>
          <a:p>
            <a:pPr>
              <a:defRPr sz="2400">
                <a:solidFill>
                  <a:srgbClr val="F8FAFC"/>
                </a:solidFill>
              </a:defRPr>
            </a:pPr>
            <a:r>
              <a:t>• Approval Card &amp; Diff</a:t>
            </a:r>
          </a:p>
          <a:p>
            <a:pPr>
              <a:defRPr sz="2400">
                <a:solidFill>
                  <a:srgbClr val="F8FAFC"/>
                </a:solidFill>
              </a:defRPr>
            </a:pPr>
            <a:r>
              <a:t>• Self-Healing Animation</a:t>
            </a:r>
          </a:p>
          <a:p>
            <a:pPr>
              <a:defRPr sz="2400">
                <a:solidFill>
                  <a:srgbClr val="F8FAFC"/>
                </a:solidFill>
              </a:defRPr>
            </a:pPr>
            <a:r>
              <a:t>• Mobile 1-Click Approval</a:t>
            </a:r>
          </a:p>
          <a:p>
            <a:pPr>
              <a:defRPr sz="2400">
                <a:solidFill>
                  <a:srgbClr val="F8FAFC"/>
                </a:solidFill>
              </a:defRPr>
            </a:pPr>
            <a:r>
              <a:t>• Recovery Cost Stopwatch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38BDF8"/>
                </a:solidFill>
              </a:defRPr>
            </a:pPr>
            <a:r>
              <a:t>AGNITIA • CHECKPOINT 2 •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72865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F8FAFC"/>
                </a:solidFill>
              </a:defRPr>
            </a:pPr>
            <a:r>
              <a:t>Five AI agents, one dependency map, and a human in control.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72865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>
                <a:solidFill>
                  <a:srgbClr val="FBBF24"/>
                </a:solidFill>
              </a:defRPr>
            </a:pPr>
            <a:r>
              <a:t>*Jargon: Agent = one focused AI step (e.g. "diagnose") in a larger pipeline.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286000"/>
            <a:ext cx="10728655" cy="1188720"/>
          </a:xfrm>
          <a:prstGeom prst="roundRect">
            <a:avLst/>
          </a:prstGeom>
          <a:solidFill>
            <a:srgbClr val="161E2E"/>
          </a:solidFill>
          <a:ln w="254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42316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38BDF8"/>
                </a:solidFill>
              </a:defRPr>
            </a:pPr>
            <a:r>
              <a:t>TIER 1 • REACT OPERATOR UI</a:t>
            </a:r>
          </a:p>
          <a:p>
            <a:pPr>
              <a:defRPr sz="2400">
                <a:solidFill>
                  <a:srgbClr val="F8FAFC"/>
                </a:solidFill>
              </a:defRPr>
            </a:pPr>
            <a:r>
              <a:t>Live dependency map • Evidence drawer • Approval modal with config diff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703320"/>
            <a:ext cx="10728655" cy="1188720"/>
          </a:xfrm>
          <a:prstGeom prst="roundRect">
            <a:avLst/>
          </a:prstGeom>
          <a:solidFill>
            <a:srgbClr val="161E2E"/>
          </a:solidFill>
          <a:ln w="254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384048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A78BFA"/>
                </a:solidFill>
              </a:defRPr>
            </a:pPr>
            <a:r>
              <a:t>TIER 2 • FIVE-AGENT PIPELINE</a:t>
            </a:r>
          </a:p>
          <a:p>
            <a:pPr>
              <a:defRPr sz="2400">
                <a:solidFill>
                  <a:srgbClr val="F8FAFC"/>
                </a:solidFill>
              </a:defRPr>
            </a:pPr>
            <a:r>
              <a:t>Triage -&gt; Diagnose -&gt; Plan -&gt; Approve -&gt; Verify, streamed live over WebSocket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120640"/>
            <a:ext cx="10728655" cy="1188720"/>
          </a:xfrm>
          <a:prstGeom prst="roundRect">
            <a:avLst/>
          </a:prstGeom>
          <a:solidFill>
            <a:srgbClr val="161E2E"/>
          </a:solidFill>
          <a:ln w="254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525780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34D399"/>
                </a:solidFill>
              </a:defRPr>
            </a:pPr>
            <a:r>
              <a:t>TIER 3 • FASTAPI + CLUSTER ADAPTER</a:t>
            </a:r>
          </a:p>
          <a:p>
            <a:pPr>
              <a:defRPr sz="2400">
                <a:solidFill>
                  <a:srgbClr val="F8FAFC"/>
                </a:solidFill>
              </a:defRPr>
            </a:pPr>
            <a:r>
              <a:t>Topology graph, playbook executor, audit log, simulator or real Kubernetes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38BDF8"/>
                </a:solidFill>
              </a:defRPr>
            </a:pPr>
            <a:r>
              <a:t>AGNITIA • CHECKPOINT 2 • VERIFIED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72865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F8FAFC"/>
                </a:solidFill>
              </a:defRPr>
            </a:pPr>
            <a:r>
              <a:t>Every claim comes with proof the AI can't fake.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72865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>
                <a:solidFill>
                  <a:srgbClr val="FBBF24"/>
                </a:solidFill>
              </a:defRPr>
            </a:pPr>
            <a:r>
              <a:t>*Jargon: Exit code 137 = the system stopped the program for using too much memory.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10728655" cy="4114800"/>
          </a:xfrm>
          <a:prstGeom prst="roundRect">
            <a:avLst/>
          </a:prstGeom>
          <a:solidFill>
            <a:srgbClr val="161E2E"/>
          </a:solidFill>
          <a:ln w="254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377440"/>
            <a:ext cx="101498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34D399"/>
                </a:solidFill>
              </a:defRPr>
            </a:pPr>
            <a:r>
              <a:t>Evidence Drawer — Root cause: postgres (confidence 97%)</a:t>
            </a:r>
          </a:p>
          <a:p>
            <a:pPr>
              <a:defRPr sz="2400">
                <a:solidFill>
                  <a:srgbClr val="F8FAFC"/>
                </a:solidFill>
              </a:defRPr>
            </a:pPr>
            <a:r>
              <a:t>[VERIFIED]  log  postgres-0:42 — “FATAL: out of memory (allocated 67108864 bytes, limit 67108864 bytes)”</a:t>
            </a:r>
          </a:p>
          <a:p>
            <a:pPr>
              <a:defRPr sz="2400">
                <a:solidFill>
                  <a:srgbClr val="F8FAFC"/>
                </a:solidFill>
              </a:defRPr>
            </a:pPr>
            <a:r>
              <a:t>[VERIFIED]  k8s_event  postgres-0 — “Reason: OOMKilled, Exit Code: 137”</a:t>
            </a:r>
          </a:p>
          <a:p>
            <a:pPr>
              <a:defRPr sz="2400">
                <a:solidFill>
                  <a:srgbClr val="F8FAFC"/>
                </a:solidFill>
              </a:defRPr>
            </a:pPr>
            <a:r>
              <a:t>[VERIFIED]  metric  postgres-0 — “mem_mb: 64.0 / limit 64.0”</a:t>
            </a:r>
          </a:p>
          <a:p>
            <a:pPr>
              <a:defRPr sz="2400">
                <a:solidFill>
                  <a:srgbClr val="F87171"/>
                </a:solidFill>
              </a:defRPr>
            </a:pPr>
            <a:r>
              <a:t>[NOT FOUND — confidence -0.2]  log  (planted) — “a citation that doesn't exist in the raw log is caught, not trusted”</a:t>
            </a:r>
          </a:p>
          <a:p>
            <a:pPr>
              <a:defRPr sz="2400">
                <a:solidFill>
                  <a:srgbClr val="94A3B8"/>
                </a:solidFill>
              </a:defRPr>
            </a:pPr>
            <a:r>
              <a:t>Every citation is checked against the raw log/event/metric data before it reaches a human.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38BDF8"/>
                </a:solidFill>
              </a:defRPr>
            </a:pPr>
            <a:r>
              <a:t>AGNITIA • CHECKPOINT 2 • SAFETY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72865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F8FAFC"/>
                </a:solidFill>
              </a:defRPr>
            </a:pPr>
            <a:r>
              <a:t>The AI can only do what we allow, and it asks before anything risky.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72865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>
                <a:solidFill>
                  <a:srgbClr val="FBBF24"/>
                </a:solidFill>
              </a:defRPr>
            </a:pPr>
            <a:r>
              <a:t>*Jargon: Allow-list = a fixed set of actions the AI is permitted to run; nothing else is possible.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286000"/>
            <a:ext cx="3429000" cy="4114800"/>
          </a:xfrm>
          <a:prstGeom prst="roundRect">
            <a:avLst/>
          </a:prstGeom>
          <a:solidFill>
            <a:srgbClr val="161E2E"/>
          </a:solidFill>
          <a:ln w="254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468880"/>
            <a:ext cx="30632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38BDF8"/>
                </a:solidFill>
              </a:defRPr>
            </a:pPr>
            <a:r>
              <a:t>ALLOW-LIST</a:t>
            </a:r>
          </a:p>
          <a:p>
            <a:pPr>
              <a:defRPr sz="2200">
                <a:solidFill>
                  <a:srgbClr val="F8FAFC"/>
                </a:solidFill>
              </a:defRPr>
            </a:pPr>
            <a:r>
              <a:t>• patch_memory_limit</a:t>
            </a:r>
          </a:p>
          <a:p>
            <a:pPr>
              <a:defRPr sz="2200">
                <a:solidFill>
                  <a:srgbClr val="F8FAFC"/>
                </a:solidFill>
              </a:defRPr>
            </a:pPr>
            <a:r>
              <a:t>• patch_cpu_limit</a:t>
            </a:r>
          </a:p>
          <a:p>
            <a:pPr>
              <a:defRPr sz="2200">
                <a:solidFill>
                  <a:srgbClr val="F8FAFC"/>
                </a:solidFill>
              </a:defRPr>
            </a:pPr>
            <a:r>
              <a:t>• rollout_restart</a:t>
            </a:r>
          </a:p>
          <a:p>
            <a:pPr>
              <a:defRPr sz="2200">
                <a:solidFill>
                  <a:srgbClr val="F8FAFC"/>
                </a:solidFill>
              </a:defRPr>
            </a:pPr>
            <a:r>
              <a:t>• rollback_deployment</a:t>
            </a:r>
          </a:p>
          <a:p>
            <a:pPr>
              <a:defRPr sz="2200">
                <a:solidFill>
                  <a:srgbClr val="F8FAFC"/>
                </a:solidFill>
              </a:defRPr>
            </a:pPr>
            <a:r>
              <a:t>• scale_replicas</a:t>
            </a:r>
          </a:p>
          <a:p>
            <a:pPr>
              <a:defRPr sz="2200">
                <a:solidFill>
                  <a:srgbClr val="F8FAFC"/>
                </a:solidFill>
              </a:defRPr>
            </a:pPr>
            <a:r>
              <a:t>• wait_for_ready</a:t>
            </a:r>
          </a:p>
          <a:p>
            <a:pPr>
              <a:defRPr sz="2200">
                <a:solidFill>
                  <a:srgbClr val="F8FAFC"/>
                </a:solidFill>
              </a:defRPr>
            </a:pPr>
            <a:r>
              <a:t>• verify_health</a:t>
            </a:r>
          </a:p>
          <a:p>
            <a:pPr>
              <a:defRPr sz="2200">
                <a:solidFill>
                  <a:srgbClr val="F8FAFC"/>
                </a:solidFill>
              </a:defRPr>
            </a:pPr>
            <a:r>
              <a:t>• Nothing that deletes.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79976" y="2286000"/>
            <a:ext cx="3429000" cy="4114800"/>
          </a:xfrm>
          <a:prstGeom prst="roundRect">
            <a:avLst/>
          </a:prstGeom>
          <a:solidFill>
            <a:srgbClr val="161E2E"/>
          </a:solidFill>
          <a:ln w="254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62856" y="2468880"/>
            <a:ext cx="30632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BBF24"/>
                </a:solidFill>
              </a:defRPr>
            </a:pPr>
            <a:r>
              <a:t>APPROVAL GATE</a:t>
            </a:r>
          </a:p>
          <a:p>
            <a:pPr>
              <a:defRPr sz="2200">
                <a:solidFill>
                  <a:srgbClr val="F8FAFC"/>
                </a:solidFill>
              </a:defRPr>
            </a:pPr>
            <a:r>
              <a:t>• High-risk steps (resource/config changes)</a:t>
            </a:r>
          </a:p>
          <a:p>
            <a:pPr>
              <a:defRPr sz="2200">
                <a:solidFill>
                  <a:srgbClr val="F8FAFC"/>
                </a:solidFill>
              </a:defRPr>
            </a:pPr>
            <a:r>
              <a:t>• always wait for a human — on screen</a:t>
            </a:r>
          </a:p>
          <a:p>
            <a:pPr>
              <a:defRPr sz="2200">
                <a:solidFill>
                  <a:srgbClr val="F8FAFC"/>
                </a:solidFill>
              </a:defRPr>
            </a:pPr>
            <a:r>
              <a:t>• or from a phone via Telegram.</a:t>
            </a:r>
          </a:p>
          <a:p>
            <a:pPr>
              <a:defRPr sz="1000">
                <a:solidFill>
                  <a:srgbClr val="F8FAFC"/>
                </a:solidFill>
              </a:defRPr>
            </a:pPr>
          </a:p>
          <a:p>
            <a:pPr>
              <a:defRPr sz="2200">
                <a:solidFill>
                  <a:srgbClr val="F8FAFC"/>
                </a:solidFill>
              </a:defRPr>
            </a:pPr>
            <a:r>
              <a:t>• Autonomy levels 1-3 set how much</a:t>
            </a:r>
          </a:p>
          <a:p>
            <a:pPr>
              <a:defRPr sz="2200">
                <a:solidFill>
                  <a:srgbClr val="F8FAFC"/>
                </a:solidFill>
              </a:defRPr>
            </a:pPr>
            <a:r>
              <a:t>• runs on its own vs. waits.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28432" y="2286000"/>
            <a:ext cx="3429000" cy="4114800"/>
          </a:xfrm>
          <a:prstGeom prst="roundRect">
            <a:avLst/>
          </a:prstGeom>
          <a:solidFill>
            <a:srgbClr val="161E2E"/>
          </a:solidFill>
          <a:ln w="254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11312" y="2468880"/>
            <a:ext cx="30632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34D399"/>
                </a:solidFill>
              </a:defRPr>
            </a:pPr>
            <a:r>
              <a:t>AUDIT LOG</a:t>
            </a:r>
          </a:p>
          <a:p>
            <a:pPr>
              <a:defRPr sz="2200">
                <a:solidFill>
                  <a:srgbClr val="F8FAFC"/>
                </a:solidFill>
              </a:defRPr>
            </a:pPr>
            <a:r>
              <a:t>• Every decision is recorded:</a:t>
            </a:r>
          </a:p>
          <a:p>
            <a:pPr>
              <a:defRPr sz="2200">
                <a:solidFill>
                  <a:srgbClr val="F8FAFC"/>
                </a:solidFill>
              </a:defRPr>
            </a:pPr>
            <a:r>
              <a:t>• who approved, what ran, what it</a:t>
            </a:r>
          </a:p>
          <a:p>
            <a:pPr>
              <a:defRPr sz="2200">
                <a:solidFill>
                  <a:srgbClr val="F8FAFC"/>
                </a:solidFill>
              </a:defRPr>
            </a:pPr>
            <a:r>
              <a:t>• verified, and any rollback —</a:t>
            </a:r>
          </a:p>
          <a:p>
            <a:pPr>
              <a:defRPr sz="2200">
                <a:solidFill>
                  <a:srgbClr val="F8FAFC"/>
                </a:solidFill>
              </a:defRPr>
            </a:pPr>
            <a:r>
              <a:t>• one entry per action, in order.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