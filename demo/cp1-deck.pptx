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38BDF8"/>
                </a:solidFill>
              </a:defRPr>
            </a:pPr>
            <a:r>
              <a:t>AGNITIA • CHECKPOINT 1 •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F8FAFC"/>
                </a:solidFill>
              </a:defRPr>
            </a:pPr>
            <a:r>
              <a:t>The 3 AM problem: when one service fails, engineers get 56 alerts, not one.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728655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>
                <a:solidFill>
                  <a:srgbClr val="FBBF24"/>
                </a:solidFill>
              </a:defRPr>
            </a:pPr>
            <a:r>
              <a:t>*Jargon: 56 alerts = cascade of error messages sent to phones when downstream systems fail.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94560"/>
            <a:ext cx="5120640" cy="4114800"/>
          </a:xfrm>
          <a:prstGeom prst="roundRect">
            <a:avLst/>
          </a:prstGeom>
          <a:solidFill>
            <a:srgbClr val="161E2E"/>
          </a:solidFill>
          <a:ln w="254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377440"/>
            <a:ext cx="45720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7171"/>
                </a:solidFill>
              </a:defRPr>
            </a:pPr>
            <a:r>
              <a:t>Phone Alert Storm (56 Messages)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t>• 03:14:10 [CRITICAL] Database OOM Killed (code 137)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t>• 03:14:11 [ERROR] Auth: DB query connection timeout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t>• 03:14:11 [ERROR] Payments: DB connection refused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t>• 03:14:12 [CRITICAL] API Gateway: 502/503 spike (18x)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t>• 03:14:14 [CRITICAL] Web UI: Checkout checkout failed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194560"/>
            <a:ext cx="5212080" cy="4114800"/>
          </a:xfrm>
          <a:prstGeom prst="roundRect">
            <a:avLst/>
          </a:prstGeom>
          <a:solidFill>
            <a:srgbClr val="161E2E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2377440"/>
            <a:ext cx="46634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BBF24"/>
                </a:solidFill>
              </a:defRPr>
            </a:pPr>
            <a:r>
              <a:t>Cascading Failure Chain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t>1. Database (postgres) [ROOT CAUSE: OOM]</a:t>
            </a:r>
          </a:p>
          <a:p>
            <a:pPr>
              <a:defRPr sz="2400">
                <a:solidFill>
                  <a:srgbClr val="94A3B8"/>
                </a:solidFill>
              </a:defRPr>
            </a:pPr>
            <a:r>
              <a:t>   ↓ failure propagates to dependencies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t>2. Auth &amp; Payments [IMPACTED: 503 Errors]</a:t>
            </a:r>
          </a:p>
          <a:p>
            <a:pPr>
              <a:defRPr sz="2400">
                <a:solidFill>
                  <a:srgbClr val="94A3B8"/>
                </a:solidFill>
              </a:defRPr>
            </a:pPr>
            <a:r>
              <a:t>   ↓ gateway upstream connections fail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t>3. Gateway &amp; Website [FULL SYSTEM OUTAGE]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38BDF8"/>
                </a:solidFill>
              </a:defRPr>
            </a:pPr>
            <a:r>
              <a:t>AGNITIA • THE SOLUTION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F8FAFC"/>
                </a:solidFill>
              </a:defRPr>
            </a:pPr>
            <a:r>
              <a:t>Agnitia closes the loop in five steps.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728655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>
                <a:solidFill>
                  <a:srgbClr val="FBBF24"/>
                </a:solidFill>
              </a:defRPr>
            </a:pPr>
            <a:r>
              <a:t>*Jargon: Closed loop = automated workflow from incident detection to verified resolution.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2011680" cy="4023360"/>
          </a:xfrm>
          <a:prstGeom prst="roundRect">
            <a:avLst/>
          </a:prstGeom>
          <a:solidFill>
            <a:srgbClr val="161E2E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468880"/>
            <a:ext cx="1737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t>1. DETECT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t>Streams cluster metrics and container logs in real 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07792" y="2286000"/>
            <a:ext cx="2011680" cy="4023360"/>
          </a:xfrm>
          <a:prstGeom prst="roundRect">
            <a:avLst/>
          </a:prstGeom>
          <a:solidFill>
            <a:srgbClr val="161E2E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44952" y="2468880"/>
            <a:ext cx="1737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A78BFA"/>
                </a:solidFill>
              </a:defRPr>
            </a:pPr>
            <a:r>
              <a:t>2. CORRELATE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t>Collapses 56 alerts into 1 incident using topology graph.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84064" y="2286000"/>
            <a:ext cx="2011680" cy="4023360"/>
          </a:xfrm>
          <a:prstGeom prst="roundRect">
            <a:avLst/>
          </a:prstGeom>
          <a:solidFill>
            <a:srgbClr val="161E2E"/>
          </a:solidFill>
          <a:ln w="254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21224" y="2468880"/>
            <a:ext cx="1737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7171"/>
                </a:solidFill>
              </a:defRPr>
            </a:pPr>
            <a:r>
              <a:t>3. DIAGNOSE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t>Pinpoints root cause with verifiable log citations.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0336" y="2286000"/>
            <a:ext cx="2011680" cy="4023360"/>
          </a:xfrm>
          <a:prstGeom prst="roundRect">
            <a:avLst/>
          </a:prstGeom>
          <a:solidFill>
            <a:srgbClr val="161E2E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97496" y="2468880"/>
            <a:ext cx="1737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BBF24"/>
                </a:solidFill>
              </a:defRPr>
            </a:pPr>
            <a:r>
              <a:t>4. PLAN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t>Generates safe, dependency-ordered recovery actions.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36608" y="2286000"/>
            <a:ext cx="2011680" cy="4023360"/>
          </a:xfrm>
          <a:prstGeom prst="roundRect">
            <a:avLst/>
          </a:prstGeom>
          <a:solidFill>
            <a:srgbClr val="161E2E"/>
          </a:solidFill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73768" y="2468880"/>
            <a:ext cx="1737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4D399"/>
                </a:solidFill>
              </a:defRPr>
            </a:pPr>
            <a:r>
              <a:t>5. APPROVE &amp; HEAL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t>Waits for human authorization, then verifies recovery.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38BDF8"/>
                </a:solidFill>
              </a:defRPr>
            </a:pPr>
            <a:r>
              <a:t>AGNITIA •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F8FAFC"/>
                </a:solidFill>
              </a:defRPr>
            </a:pPr>
            <a:r>
              <a:t>One backend, a live dependency map and a swappable cluster.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728655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>
                <a:solidFill>
                  <a:srgbClr val="FBBF24"/>
                </a:solidFill>
              </a:defRPr>
            </a:pPr>
            <a:r>
              <a:t>*Jargon: Cluster adapter = interface switching between test simulator and real Kubernetes.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10728655" cy="1188720"/>
          </a:xfrm>
          <a:prstGeom prst="roundRect">
            <a:avLst/>
          </a:prstGeom>
          <a:solidFill>
            <a:srgbClr val="161E2E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423160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t>TIER 1 • REACT OPERATOR UI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t>Live React Flow dependency map • Terminal AI reasoning panel • Incident approval card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703320"/>
            <a:ext cx="10728655" cy="1188720"/>
          </a:xfrm>
          <a:prstGeom prst="roundRect">
            <a:avLst/>
          </a:prstGeom>
          <a:solidFill>
            <a:srgbClr val="161E2E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840480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A78BFA"/>
                </a:solidFill>
              </a:defRPr>
            </a:pPr>
            <a:r>
              <a:t>TIER 2 • FASTAPI &amp; EVENT BUS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t>Topology graph correlation • Real-time WebSocket bus • Pydantic contract validation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120640"/>
            <a:ext cx="10728655" cy="1188720"/>
          </a:xfrm>
          <a:prstGeom prst="roundRect">
            <a:avLst/>
          </a:prstGeom>
          <a:solidFill>
            <a:srgbClr val="161E2E"/>
          </a:solidFill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5257800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4D399"/>
                </a:solidFill>
              </a:defRPr>
            </a:pPr>
            <a:r>
              <a:t>TIER 3 • CLUSTER ADAPTERS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t>Deterministic simulator (demo mode) OR Real Kubernetes cluster (Kind)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38BDF8"/>
                </a:solidFill>
              </a:defRPr>
            </a:pPr>
            <a:r>
              <a:t>AGNITIA • EXECUTION VELOCITY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F8FAFC"/>
                </a:solidFill>
              </a:defRPr>
            </a:pPr>
            <a:r>
              <a:t>Where we are: progress board.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728655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>
                <a:solidFill>
                  <a:srgbClr val="FBBF24"/>
                </a:solidFill>
              </a:defRPr>
            </a:pPr>
            <a:r>
              <a:t>*Jargon: Chaos panel = one-click fault injection tool to verify resilience under fire.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3429000" cy="4114800"/>
          </a:xfrm>
          <a:prstGeom prst="roundRect">
            <a:avLst/>
          </a:prstGeom>
          <a:solidFill>
            <a:srgbClr val="161E2E"/>
          </a:solidFill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30632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4D399"/>
                </a:solidFill>
              </a:defRPr>
            </a:pPr>
            <a:r>
              <a:t>DONE (HOUR 5)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t>• Live Dependency Map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t>• Chaos Injection Panel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t>• Alert Storm Funnel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t>• Live AI Reasoning Panel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t>• Telegram Bot Ping/Pong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9976" y="2286000"/>
            <a:ext cx="3429000" cy="4114800"/>
          </a:xfrm>
          <a:prstGeom prst="roundRect">
            <a:avLst/>
          </a:prstGeom>
          <a:solidFill>
            <a:srgbClr val="161E2E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62856" y="2468880"/>
            <a:ext cx="30632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BBF24"/>
                </a:solidFill>
              </a:defRPr>
            </a:pPr>
            <a:r>
              <a:t>BUILDING NOW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t>• Evidence Drawer with Proof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t>• Ordered Playbook Engine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t>• Live 5-Agent Pipeline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t>• Citation Verifier Guard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28432" y="2286000"/>
            <a:ext cx="3429000" cy="4114800"/>
          </a:xfrm>
          <a:prstGeom prst="roundRect">
            <a:avLst/>
          </a:prstGeom>
          <a:solidFill>
            <a:srgbClr val="161E2E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11312" y="2468880"/>
            <a:ext cx="30632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t>NEXT (CHECKPOINT 2)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t>• Approval Card &amp; Diff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t>• Self-Healing Animation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t>• Mobile 1-Click Approval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t>• Recovery Cost Stopwatch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